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323" r:id="rId3"/>
    <p:sldId id="328" r:id="rId4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8746AE-D7DD-414E-9CDC-DD29978DD63F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B76BB-AD8F-FB40-9D08-C5EAA5350BCF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2708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Image Placeholder 1">
            <a:extLst>
              <a:ext uri="{FF2B5EF4-FFF2-40B4-BE49-F238E27FC236}">
                <a16:creationId xmlns:a16="http://schemas.microsoft.com/office/drawing/2014/main" id="{D4F253FF-5C42-C853-D2A9-96DBBAD88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8" name="Notes Placeholder 2">
            <a:extLst>
              <a:ext uri="{FF2B5EF4-FFF2-40B4-BE49-F238E27FC236}">
                <a16:creationId xmlns:a16="http://schemas.microsoft.com/office/drawing/2014/main" id="{8B1AEFD4-946D-4BCE-1320-648A22007E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MX">
                <a:ea typeface="ＭＳ Ｐゴシック" panose="020B0600070205080204" pitchFamily="34" charset="-128"/>
              </a:rPr>
              <a:t>No under or overestimating Pr of death of any casuses</a:t>
            </a:r>
          </a:p>
        </p:txBody>
      </p:sp>
      <p:sp>
        <p:nvSpPr>
          <p:cNvPr id="86019" name="Slide Number Placeholder 3">
            <a:extLst>
              <a:ext uri="{FF2B5EF4-FFF2-40B4-BE49-F238E27FC236}">
                <a16:creationId xmlns:a16="http://schemas.microsoft.com/office/drawing/2014/main" id="{466D4676-A83F-EE8F-69A4-C9B4FBF0F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7ED7F1-DE75-D443-A894-1CC04FDF57FA}" type="slidenum">
              <a:rPr lang="en-US" altLang="en-MX" sz="1200"/>
              <a:pPr eaLnBrk="1" hangingPunct="1"/>
              <a:t>3</a:t>
            </a:fld>
            <a:endParaRPr lang="en-US" altLang="en-MX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BD9D7-4938-1C52-C6C5-AA73A714A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E0F31-7EFD-D013-9A7B-B63C440DA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653BF-475B-3B6A-CA39-3AE9CACD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44043-9037-A5B4-0547-3043721DA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02696-8F65-BE4D-6D8C-D1AAC999C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604860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4B03-5F9C-1F19-0F5F-C0539C47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A265E-D5BE-E442-1BE8-A89815438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98EB6-9280-3BE8-A151-ACE874C18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07C05-693B-CC19-660B-479123AA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499BE-9020-7E27-448A-BB752954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22629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12D93-444F-8374-56FE-967193D9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31EDF-259E-EEA4-15BA-D0BE65923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7BDEE-75B7-C54A-2B70-B69E7531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BF7BC-F86E-FC22-101B-6E31BA94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1F67E-D853-0250-2B02-2DD5C391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148467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F7074-10C6-2E7B-183E-CABC74C5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FA7A-6A46-AC94-7179-CED61B17A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15B50-9424-0359-B23B-46975B7C3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ED645-28EF-5810-9E4C-2D201DBE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DCE8B-2E86-098F-B023-B08FEDA3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49099-C0D6-8B6A-B55C-129B85FA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079677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B1B1-5D04-A196-556B-3956C4B27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8A9B3-B1DE-3C72-599E-4F2E954BD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80475-C982-6D9D-0905-3467D1EFF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BAE21-0601-6E09-A2D7-6B4AB8131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1D6F2-CE06-EEFF-73AD-88B7CDD42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9E3FA-DDA8-4BFD-9309-1EE80498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FC204-EAAD-5D86-BA96-93658E0C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87C6EB-FF4C-4D53-0BBB-8149C100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3153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F1E5-CF13-B00D-C1E8-3BB4933BF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CCA7E0-C114-C29B-A725-A5350A90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3A678-8585-5431-CB13-C1A6608E9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C614A-947F-CEE9-935C-EE8D1C32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93266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F73C77-7F56-FCAB-6A00-FACFAC6F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EA63F-EDEA-225A-C009-624409783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98D00-EA5A-9876-450F-658E3E2F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4830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2B80-5E8C-6652-F291-142FBDFCA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10097-A2ED-CD92-0DD0-7B25B60EF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F269E-127B-2D95-C66F-FED090F81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4A90E-7F2B-B943-967A-197234C55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FF78E-13D9-96E7-1D15-D2DB20F0E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3C93C-2C04-46C7-5F05-BA40F723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0238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7A38-BA9A-F9A4-02C9-307CA8C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068FDC-FAFC-7FCB-DB97-E98F4A4D0C1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5219F-0927-211F-0735-5B6808EA5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AB81E-3F34-9BE7-5D09-6FA6CDA0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16157-BE2F-873D-43F5-40660A692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CF29E-4A06-9AA8-4A2F-5BD6C78A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271086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FD88-B4EE-BDBF-1D3F-F7022AF93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F0521-1EC2-D567-10C1-D1E3986B1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5A3A-C13A-FC05-B3EB-B3DA32B9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32B11-B2A2-FBAF-455C-0A320E44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9B3E2-0B3F-0D59-235A-5492A218A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31245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3554A3-0EC1-BE1C-1487-8DFF2F08D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B2BD6-4D65-19B2-C6D8-918E11AF7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538CB-6BC7-0D25-DC91-57A89A22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1F398-AB1A-CAD1-9895-0AB11921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10A61-E224-6BD1-FDA8-A4AB3AD8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888576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1F5BF-8585-11C6-770F-DB19E12900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F1C974-5098-9578-A812-E7E8D87E44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8C6C48-90B2-E420-1310-ADBAF1574D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5B250F-FCD1-9549-B5B2-FBFE9D90055E}" type="slidenum">
              <a:rPr lang="en-US" altLang="en-MX"/>
              <a:pPr/>
              <a:t>‹#›</a:t>
            </a:fld>
            <a:endParaRPr lang="en-US" altLang="en-MX"/>
          </a:p>
        </p:txBody>
      </p:sp>
    </p:spTree>
    <p:extLst>
      <p:ext uri="{BB962C8B-B14F-4D97-AF65-F5344CB8AC3E}">
        <p14:creationId xmlns:p14="http://schemas.microsoft.com/office/powerpoint/2010/main" val="45082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D2349-B88A-77B9-7DBF-FB71951A7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B81E1-7263-5A1E-61E5-FF0C83C3C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6FA0C-7964-D0C6-0C6F-712D20F5AA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1C2B4-B923-1840-A2F5-8F6A76517965}" type="datetimeFigureOut">
              <a:rPr lang="en-MX" smtClean="0"/>
              <a:t>22/09/26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E2B1C-12FF-1EA9-4ED0-3FA136842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39C36-C79B-4989-F8CC-2F3B83187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F8007-6292-1341-A10F-88AF2B3137F3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14606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3184-AEBD-30B0-CCC8-C906DA17C2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MX" dirty="0"/>
              <a:t>robability of symptom detection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1351A-1464-A868-3024-AC6EAB90FF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090135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4BB05ACB-19B6-EC80-6E6F-9DCB93EB4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8451" y="458956"/>
            <a:ext cx="10898372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MX" sz="4000" dirty="0">
                <a:ea typeface="ＭＳ Ｐゴシック" panose="020B0600070205080204" pitchFamily="34" charset="-128"/>
              </a:rPr>
              <a:t>Probability of clinical detection under competing risks</a:t>
            </a:r>
            <a:endParaRPr lang="en-US" altLang="en-MX" sz="3200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914" name="Rectangle 3">
                <a:extLst>
                  <a:ext uri="{FF2B5EF4-FFF2-40B4-BE49-F238E27FC236}">
                    <a16:creationId xmlns:a16="http://schemas.microsoft.com/office/drawing/2014/main" id="{AF38ADE3-1D48-263F-E9EC-3EC728A4270F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898451" y="1903245"/>
                <a:ext cx="10754833" cy="4050980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en-MX" sz="3200">
                    <a:ea typeface="ＭＳ Ｐゴシック" panose="020B0600070205080204" pitchFamily="34" charset="-128"/>
                  </a:rPr>
                  <a:t>There </a:t>
                </a:r>
                <a:r>
                  <a:rPr lang="en-US" altLang="en-MX" sz="3200" dirty="0">
                    <a:ea typeface="ＭＳ Ｐゴシック" panose="020B0600070205080204" pitchFamily="34" charset="-128"/>
                  </a:rPr>
                  <a:t>are 2 different ways of exiting preclinical cancer Stage 1 (P1):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altLang="en-MX" sz="2800" dirty="0">
                    <a:ea typeface="ＭＳ Ｐゴシック" panose="020B0600070205080204" pitchFamily="34" charset="-128"/>
                  </a:rPr>
                  <a:t>Getting diagnosed and moving to clinical cancer Stage 1[C1]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altLang="en-MX" sz="2800" dirty="0">
                    <a:ea typeface="ＭＳ Ｐゴシック" panose="020B0600070205080204" pitchFamily="34" charset="-128"/>
                  </a:rPr>
                  <a:t>Moving to preclinical cancer Stage 2 [P2]</a:t>
                </a:r>
              </a:p>
              <a:p>
                <a:pPr marL="971550" lvl="1" indent="-514350">
                  <a:buFont typeface="+mj-lt"/>
                  <a:buAutoNum type="arabicPeriod"/>
                </a:pPr>
                <a:endParaRPr lang="en-US" altLang="en-MX" sz="2800" dirty="0">
                  <a:ea typeface="ＭＳ Ｐゴシック" panose="020B0600070205080204" pitchFamily="34" charset="-128"/>
                </a:endParaRPr>
              </a:p>
              <a:p>
                <a:pPr lvl="1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1→</m:t>
                        </m:r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MX" sz="2800" dirty="0">
                    <a:ea typeface="ＭＳ Ｐゴシック" panose="020B0600070205080204" pitchFamily="34" charset="-128"/>
                  </a:rPr>
                  <a:t>= the annual rate of moving from P1 toC1</a:t>
                </a:r>
                <a:endParaRPr lang="en-US" altLang="en-MX" sz="2800" i="1" dirty="0">
                  <a:ea typeface="ＭＳ Ｐゴシック" panose="020B0600070205080204" pitchFamily="34" charset="-128"/>
                </a:endParaRPr>
              </a:p>
              <a:p>
                <a:pPr lvl="1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1→</m:t>
                        </m:r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E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en-MX" sz="2800" dirty="0">
                    <a:ea typeface="ＭＳ Ｐゴシック" panose="020B0600070205080204" pitchFamily="34" charset="-128"/>
                  </a:rPr>
                  <a:t> = the annual rate of moving from P1 to P2</a:t>
                </a:r>
                <a:endParaRPr lang="en-US" altLang="en-MX" sz="2800" i="1" dirty="0">
                  <a:ea typeface="ＭＳ Ｐゴシック" panose="020B0600070205080204" pitchFamily="34" charset="-128"/>
                </a:endParaRPr>
              </a:p>
              <a:p>
                <a:pPr eaLnBrk="1" hangingPunct="1"/>
                <a:r>
                  <a:rPr lang="en-US" altLang="en-MX" sz="3200" dirty="0">
                    <a:ea typeface="ＭＳ Ｐゴシック" panose="020B0600070205080204" pitchFamily="34" charset="-128"/>
                  </a:rPr>
                  <a:t>The chance of exiting P1 within 1 year is:</a:t>
                </a:r>
              </a:p>
            </p:txBody>
          </p:sp>
        </mc:Choice>
        <mc:Fallback>
          <p:sp>
            <p:nvSpPr>
              <p:cNvPr id="38914" name="Rectangle 3">
                <a:extLst>
                  <a:ext uri="{FF2B5EF4-FFF2-40B4-BE49-F238E27FC236}">
                    <a16:creationId xmlns:a16="http://schemas.microsoft.com/office/drawing/2014/main" id="{AF38ADE3-1D48-263F-E9EC-3EC728A42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898451" y="1903245"/>
                <a:ext cx="10754833" cy="4050980"/>
              </a:xfrm>
              <a:blipFill>
                <a:blip r:embed="rId2"/>
                <a:stretch>
                  <a:fillRect l="-1297" t="-3125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15" name="Line 4">
            <a:extLst>
              <a:ext uri="{FF2B5EF4-FFF2-40B4-BE49-F238E27FC236}">
                <a16:creationId xmlns:a16="http://schemas.microsoft.com/office/drawing/2014/main" id="{F8F18AB8-487F-3FA4-A7A8-BDD37E304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1" y="1752600"/>
            <a:ext cx="7910513" cy="0"/>
          </a:xfrm>
          <a:prstGeom prst="line">
            <a:avLst/>
          </a:prstGeom>
          <a:noFill/>
          <a:ln w="25400">
            <a:solidFill>
              <a:srgbClr val="A5002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12">
                <a:extLst>
                  <a:ext uri="{FF2B5EF4-FFF2-40B4-BE49-F238E27FC236}">
                    <a16:creationId xmlns:a16="http://schemas.microsoft.com/office/drawing/2014/main" id="{BB4101B0-4B7E-D2CC-EF1C-DEA3B960D0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4621" y="5828809"/>
                <a:ext cx="8728471" cy="6481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𝐸𝑥𝑖𝑡𝑖𝑛𝑔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3200" i="1">
                          <a:latin typeface="Cambria Math" panose="02040503050406030204" pitchFamily="18" charset="0"/>
                        </a:rPr>
                        <m:t>1−</m:t>
                      </m:r>
                      <m:func>
                        <m:funcPr>
                          <m:ctrlPr>
                            <a:rPr lang="es-ES" sz="32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32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s-E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  <m:t>1→</m:t>
                                      </m:r>
                                      <m: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sz="3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  <m:t>1→</m:t>
                                      </m:r>
                                      <m: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s-ES" sz="3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" name="Text Box 12">
                <a:extLst>
                  <a:ext uri="{FF2B5EF4-FFF2-40B4-BE49-F238E27FC236}">
                    <a16:creationId xmlns:a16="http://schemas.microsoft.com/office/drawing/2014/main" id="{BB4101B0-4B7E-D2CC-EF1C-DEA3B960D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4621" y="5828809"/>
                <a:ext cx="8728471" cy="648191"/>
              </a:xfrm>
              <a:prstGeom prst="rect">
                <a:avLst/>
              </a:prstGeom>
              <a:blipFill>
                <a:blip r:embed="rId3"/>
                <a:stretch>
                  <a:fillRect b="-1509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D285EF9B-87DC-7004-FBF9-4A70DD78E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3259" y="609600"/>
            <a:ext cx="10143449" cy="914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latin typeface="+mn-lt"/>
                <a:ea typeface="+mj-ea"/>
              </a:rPr>
              <a:t>Probability of clinical detection from P1 to C1 </a:t>
            </a:r>
          </a:p>
        </p:txBody>
      </p:sp>
      <p:sp>
        <p:nvSpPr>
          <p:cNvPr id="106499" name="Line 3">
            <a:extLst>
              <a:ext uri="{FF2B5EF4-FFF2-40B4-BE49-F238E27FC236}">
                <a16:creationId xmlns:a16="http://schemas.microsoft.com/office/drawing/2014/main" id="{88259399-6234-A5FC-FAC9-7D1114583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8075" y="3671888"/>
            <a:ext cx="1828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500" name="Oval 4">
            <a:extLst>
              <a:ext uri="{FF2B5EF4-FFF2-40B4-BE49-F238E27FC236}">
                <a16:creationId xmlns:a16="http://schemas.microsoft.com/office/drawing/2014/main" id="{DFDEF858-867E-1C82-38CB-49E757CDB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75" y="3535364"/>
            <a:ext cx="274638" cy="2746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501" name="Line 5">
            <a:extLst>
              <a:ext uri="{FF2B5EF4-FFF2-40B4-BE49-F238E27FC236}">
                <a16:creationId xmlns:a16="http://schemas.microsoft.com/office/drawing/2014/main" id="{8D2DD3D9-6EAB-5E74-4F88-8AF54CDC07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895601"/>
            <a:ext cx="0" cy="639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502" name="Line 6">
            <a:extLst>
              <a:ext uri="{FF2B5EF4-FFF2-40B4-BE49-F238E27FC236}">
                <a16:creationId xmlns:a16="http://schemas.microsoft.com/office/drawing/2014/main" id="{60C1DCF1-A3BA-1423-BC40-FB27EAA39A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3810001"/>
            <a:ext cx="0" cy="639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503" name="Line 7">
            <a:extLst>
              <a:ext uri="{FF2B5EF4-FFF2-40B4-BE49-F238E27FC236}">
                <a16:creationId xmlns:a16="http://schemas.microsoft.com/office/drawing/2014/main" id="{3CAE2AD7-BC6F-E83C-EF54-4E8A21EEFD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895600"/>
            <a:ext cx="2101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504" name="Line 8">
            <a:extLst>
              <a:ext uri="{FF2B5EF4-FFF2-40B4-BE49-F238E27FC236}">
                <a16:creationId xmlns:a16="http://schemas.microsoft.com/office/drawing/2014/main" id="{A62796F4-B8D9-49C8-7931-E8AEA7DC05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449763"/>
            <a:ext cx="2101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505" name="Line 9">
            <a:extLst>
              <a:ext uri="{FF2B5EF4-FFF2-40B4-BE49-F238E27FC236}">
                <a16:creationId xmlns:a16="http://schemas.microsoft.com/office/drawing/2014/main" id="{03BB2F95-68E9-2DCA-CD94-17C5F524D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8601" y="2119313"/>
            <a:ext cx="15541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506" name="Text Box 10">
            <a:extLst>
              <a:ext uri="{FF2B5EF4-FFF2-40B4-BE49-F238E27FC236}">
                <a16:creationId xmlns:a16="http://schemas.microsoft.com/office/drawing/2014/main" id="{0A206BA4-8924-34AE-277D-A07F7D4CD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438400"/>
            <a:ext cx="11416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Exiting P1</a:t>
            </a:r>
          </a:p>
        </p:txBody>
      </p:sp>
      <p:sp>
        <p:nvSpPr>
          <p:cNvPr id="106507" name="Text Box 11">
            <a:extLst>
              <a:ext uri="{FF2B5EF4-FFF2-40B4-BE49-F238E27FC236}">
                <a16:creationId xmlns:a16="http://schemas.microsoft.com/office/drawing/2014/main" id="{73296397-9655-3910-8494-8E031DA5C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439" y="3992563"/>
            <a:ext cx="14402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Staying in P1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508" name="Text Box 12">
                <a:extLst>
                  <a:ext uri="{FF2B5EF4-FFF2-40B4-BE49-F238E27FC236}">
                    <a16:creationId xmlns:a16="http://schemas.microsoft.com/office/drawing/2014/main" id="{621DE14C-15D6-F636-A1D7-27A737F829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9439" y="2946957"/>
                <a:ext cx="1954212" cy="2834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>
                      <m:r>
                        <a:rPr lang="es-ES" sz="1100" i="1">
                          <a:latin typeface="Cambria Math" panose="02040503050406030204" pitchFamily="18" charset="0"/>
                        </a:rPr>
                        <m:t>1−</m:t>
                      </m:r>
                      <m:func>
                        <m:funcPr>
                          <m:ctrlPr>
                            <a:rPr lang="es-ES" sz="11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11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s-E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s-ES" sz="1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1→</m:t>
                                      </m:r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sz="1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1→</m:t>
                                      </m:r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s-ES" sz="1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100" dirty="0"/>
              </a:p>
            </p:txBody>
          </p:sp>
        </mc:Choice>
        <mc:Fallback>
          <p:sp>
            <p:nvSpPr>
              <p:cNvPr id="106508" name="Text Box 12">
                <a:extLst>
                  <a:ext uri="{FF2B5EF4-FFF2-40B4-BE49-F238E27FC236}">
                    <a16:creationId xmlns:a16="http://schemas.microsoft.com/office/drawing/2014/main" id="{621DE14C-15D6-F636-A1D7-27A737F82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9439" y="2946957"/>
                <a:ext cx="1954212" cy="2834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10" name="Text Box 14">
            <a:extLst>
              <a:ext uri="{FF2B5EF4-FFF2-40B4-BE49-F238E27FC236}">
                <a16:creationId xmlns:a16="http://schemas.microsoft.com/office/drawing/2014/main" id="{16A9713D-AC17-F15A-2FA3-0E9F4620E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064" y="3216275"/>
            <a:ext cx="1072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One year</a:t>
            </a:r>
          </a:p>
        </p:txBody>
      </p:sp>
      <p:sp>
        <p:nvSpPr>
          <p:cNvPr id="106512" name="AutoShape 16">
            <a:extLst>
              <a:ext uri="{FF2B5EF4-FFF2-40B4-BE49-F238E27FC236}">
                <a16:creationId xmlns:a16="http://schemas.microsoft.com/office/drawing/2014/main" id="{7A4A6E55-36E1-BB59-3A85-103929F16F62}"/>
              </a:ext>
            </a:extLst>
          </p:cNvPr>
          <p:cNvSpPr>
            <a:spLocks/>
          </p:cNvSpPr>
          <p:nvPr/>
        </p:nvSpPr>
        <p:spPr bwMode="auto">
          <a:xfrm>
            <a:off x="8382000" y="1905000"/>
            <a:ext cx="457200" cy="1828800"/>
          </a:xfrm>
          <a:prstGeom prst="righ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513" name="Text Box 17">
            <a:extLst>
              <a:ext uri="{FF2B5EF4-FFF2-40B4-BE49-F238E27FC236}">
                <a16:creationId xmlns:a16="http://schemas.microsoft.com/office/drawing/2014/main" id="{96AF696A-F329-67D7-2335-C6B738DB6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8101" y="2516188"/>
            <a:ext cx="13860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 err="1"/>
              <a:t>Pr</a:t>
            </a:r>
            <a:r>
              <a:rPr lang="en-US" dirty="0"/>
              <a:t> exiting P1</a:t>
            </a:r>
          </a:p>
        </p:txBody>
      </p:sp>
      <p:sp>
        <p:nvSpPr>
          <p:cNvPr id="106514" name="Oval 18">
            <a:extLst>
              <a:ext uri="{FF2B5EF4-FFF2-40B4-BE49-F238E27FC236}">
                <a16:creationId xmlns:a16="http://schemas.microsoft.com/office/drawing/2014/main" id="{FBEF07DC-D18C-F2DE-E544-38710BCAD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489" y="2759075"/>
            <a:ext cx="274637" cy="27463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515" name="Line 19">
            <a:extLst>
              <a:ext uri="{FF2B5EF4-FFF2-40B4-BE49-F238E27FC236}">
                <a16:creationId xmlns:a16="http://schemas.microsoft.com/office/drawing/2014/main" id="{864AACB6-CD6F-0EAD-D4D9-8390216464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8600" y="2119313"/>
            <a:ext cx="0" cy="639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516" name="Line 20">
            <a:extLst>
              <a:ext uri="{FF2B5EF4-FFF2-40B4-BE49-F238E27FC236}">
                <a16:creationId xmlns:a16="http://schemas.microsoft.com/office/drawing/2014/main" id="{139627BD-C3EA-23D8-0F55-B027A919AA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8600" y="3033713"/>
            <a:ext cx="0" cy="639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517" name="Text Box 21">
            <a:extLst>
              <a:ext uri="{FF2B5EF4-FFF2-40B4-BE49-F238E27FC236}">
                <a16:creationId xmlns:a16="http://schemas.microsoft.com/office/drawing/2014/main" id="{7C999FD3-C391-8FF0-3AAE-7A060F1F9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3" y="1662113"/>
            <a:ext cx="13456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Going to C1</a:t>
            </a:r>
          </a:p>
        </p:txBody>
      </p:sp>
      <p:sp>
        <p:nvSpPr>
          <p:cNvPr id="106518" name="Text Box 22">
            <a:extLst>
              <a:ext uri="{FF2B5EF4-FFF2-40B4-BE49-F238E27FC236}">
                <a16:creationId xmlns:a16="http://schemas.microsoft.com/office/drawing/2014/main" id="{590383AE-CDDE-8B32-7ED2-69F237963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3400" y="3216275"/>
            <a:ext cx="13184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Going to P2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519" name="Text Box 23">
                <a:extLst>
                  <a:ext uri="{FF2B5EF4-FFF2-40B4-BE49-F238E27FC236}">
                    <a16:creationId xmlns:a16="http://schemas.microsoft.com/office/drawing/2014/main" id="{EF687931-813C-5622-E3CC-F7DE6E8CF7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05600" y="2125664"/>
                <a:ext cx="1796068" cy="6138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1→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1→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1→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6519" name="Text Box 23">
                <a:extLst>
                  <a:ext uri="{FF2B5EF4-FFF2-40B4-BE49-F238E27FC236}">
                    <a16:creationId xmlns:a16="http://schemas.microsoft.com/office/drawing/2014/main" id="{EF687931-813C-5622-E3CC-F7DE6E8CF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600" y="2125664"/>
                <a:ext cx="1796068" cy="613822"/>
              </a:xfrm>
              <a:prstGeom prst="rect">
                <a:avLst/>
              </a:prstGeom>
              <a:blipFill>
                <a:blip r:embed="rId4"/>
                <a:stretch>
                  <a:fillRect b="-204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21" name="Line 25">
            <a:extLst>
              <a:ext uri="{FF2B5EF4-FFF2-40B4-BE49-F238E27FC236}">
                <a16:creationId xmlns:a16="http://schemas.microsoft.com/office/drawing/2014/main" id="{C118A779-A4EC-BD7D-9A5B-867488CED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8601" y="3673475"/>
            <a:ext cx="15541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A4741D-B239-E208-5CC2-ED8BC1D639EC}"/>
                  </a:ext>
                </a:extLst>
              </p:cNvPr>
              <p:cNvSpPr txBox="1"/>
              <p:nvPr/>
            </p:nvSpPr>
            <p:spPr>
              <a:xfrm>
                <a:off x="1238369" y="5446449"/>
                <a:ext cx="10551286" cy="720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s-ES" sz="3200" b="0" dirty="0"/>
                  <a:t>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1→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1→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1→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1→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s-E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s-ES" sz="32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ES" sz="3200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s-ES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1→</m:t>
                                        </m:r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ES" sz="32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1→</m:t>
                                        </m:r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  <m:r>
                                          <a:rPr lang="es-ES" sz="3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MX" sz="3200" dirty="0"/>
                  <a:t>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6A4741D-B239-E208-5CC2-ED8BC1D63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369" y="5446449"/>
                <a:ext cx="10551286" cy="720582"/>
              </a:xfrm>
              <a:prstGeom prst="rect">
                <a:avLst/>
              </a:prstGeom>
              <a:blipFill>
                <a:blip r:embed="rId5"/>
                <a:stretch>
                  <a:fillRect l="-2284" t="-6897" b="-12069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17">
            <a:extLst>
              <a:ext uri="{FF2B5EF4-FFF2-40B4-BE49-F238E27FC236}">
                <a16:creationId xmlns:a16="http://schemas.microsoft.com/office/drawing/2014/main" id="{96DE245A-29B5-0091-E82B-DA5D7D338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008" y="3429000"/>
            <a:ext cx="4411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P1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716FE7-C248-8191-0807-6C2EF3E6926C}"/>
                  </a:ext>
                </a:extLst>
              </p:cNvPr>
              <p:cNvSpPr txBox="1"/>
              <p:nvPr/>
            </p:nvSpPr>
            <p:spPr>
              <a:xfrm>
                <a:off x="6705600" y="3718903"/>
                <a:ext cx="1156402" cy="6717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1→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1→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1→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MX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716FE7-C248-8191-0807-6C2EF3E69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3718903"/>
                <a:ext cx="1156402" cy="671787"/>
              </a:xfrm>
              <a:prstGeom prst="rect">
                <a:avLst/>
              </a:prstGeom>
              <a:blipFill>
                <a:blip r:embed="rId6"/>
                <a:stretch>
                  <a:fillRect r="-60870" b="-3704"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0D4957-CEFA-3478-8C01-E07B42640243}"/>
                  </a:ext>
                </a:extLst>
              </p:cNvPr>
              <p:cNvSpPr txBox="1"/>
              <p:nvPr/>
            </p:nvSpPr>
            <p:spPr>
              <a:xfrm>
                <a:off x="4155350" y="4527422"/>
                <a:ext cx="2358662" cy="335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s-ES" sz="1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sz="14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s-E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s-E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  <m:t>1→</m:t>
                                      </m:r>
                                      <m: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s-ES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  <m:t>1→</m:t>
                                      </m:r>
                                      <m: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MX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0D4957-CEFA-3478-8C01-E07B42640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350" y="4527422"/>
                <a:ext cx="2358662" cy="3354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MX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131</Words>
  <Application>Microsoft Macintosh PowerPoint</Application>
  <PresentationFormat>Widescreen</PresentationFormat>
  <Paragraphs>25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ＭＳ Ｐゴシック</vt:lpstr>
      <vt:lpstr>Aptos</vt:lpstr>
      <vt:lpstr>Aptos Display</vt:lpstr>
      <vt:lpstr>Arial</vt:lpstr>
      <vt:lpstr>Cambria Math</vt:lpstr>
      <vt:lpstr>Office Theme</vt:lpstr>
      <vt:lpstr>Probability of symptom detection </vt:lpstr>
      <vt:lpstr>Probability of clinical detection under competing risks</vt:lpstr>
      <vt:lpstr>Probability of clinical detection from P1 to C1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Alarid Escudero</dc:creator>
  <cp:lastModifiedBy>Fernando Alarid Escudero</cp:lastModifiedBy>
  <cp:revision>2</cp:revision>
  <dcterms:created xsi:type="dcterms:W3CDTF">2026-09-22T21:01:21Z</dcterms:created>
  <dcterms:modified xsi:type="dcterms:W3CDTF">2026-09-22T21:19:14Z</dcterms:modified>
</cp:coreProperties>
</file>